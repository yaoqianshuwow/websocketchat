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92608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515600" cy="1645920"/>
          </a:xfrm>
          <a:prstGeom prst="rect">
            <a:avLst/>
          </a:prstGeom>
          <a:noFill/>
        </p:spPr>
        <p:txBody>
          <a:bodyPr wrap="square">
            <a:spAutoFit/>
          </a:bodyPr>
          <a:lstStyle/>
          <a:p>
            <a:pPr algn="l">
              <a:defRPr sz="4000" b="1">
                <a:solidFill>
                  <a:srgbClr val="FFFFFF"/>
                </a:solidFill>
                <a:latin typeface="Microsoft YaHei"/>
              </a:defRPr>
            </a:pPr>
            <a:r>
              <a:t>大熊猫保护：从濒危到易危的生态奇迹</a:t>
            </a:r>
          </a:p>
        </p:txBody>
      </p:sp>
      <p:sp>
        <p:nvSpPr>
          <p:cNvPr id="5" name="TextBox 4"/>
          <p:cNvSpPr txBox="1"/>
          <p:nvPr/>
        </p:nvSpPr>
        <p:spPr>
          <a:xfrm>
            <a:off x="731520" y="3474720"/>
            <a:ext cx="10515600" cy="1828800"/>
          </a:xfrm>
          <a:prstGeom prst="rect">
            <a:avLst/>
          </a:prstGeom>
          <a:noFill/>
        </p:spPr>
        <p:txBody>
          <a:bodyPr wrap="square">
            <a:spAutoFit/>
          </a:bodyPr>
          <a:lstStyle/>
          <a:p>
            <a:pPr algn="l">
              <a:defRPr sz="1800" b="0">
                <a:solidFill>
                  <a:srgbClr val="555555"/>
                </a:solidFill>
                <a:latin typeface="Microsoft YaHei"/>
              </a:defRPr>
            </a:pPr>
            <a:r>
              <a:t>欢迎来到大熊猫保护专题报告。作为中国的‘国宝’和全球生物多样性保护的旗舰物种，大熊猫的命运折射出人类与自然和谐共生的可能性。本报告将深入探讨大熊猫保护的历史沿革、栖息地现状、繁殖技术突破以及社区参与模式。我们将从数据出发，分析保护成果与挑战，并展望未来的可持续发展路径。这不仅是一场关于单一物种的救援行动，更是一次探索生态系统整体健康与人类发展平衡点的深刻实践。通过了解这些努力，我们希望能激发更多人</a:t>
            </a:r>
          </a:p>
        </p:txBody>
      </p:sp>
      <p:sp>
        <p:nvSpPr>
          <p:cNvPr id="6" name="TextBox 5"/>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目录与核心议题概览</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本报告将围绕以下六大核心维度展开深入分析：第一，大熊猫的历史地位与全球象征意义；第二，主要威胁因素分析，包括栖息地碎片化与气候变化；第三，中国自然保护区网络的建设成效；第四，人工繁育与野化放归的技术突破；第五，社区共管模式与生态旅游的经济激励；第六，未来面临的挑战与全球合作愿景。每个部分都将结合最新科研数据与典型案例，提供详实的见解。我们将不仅关注大熊猫本身的种群数量变化，更将视角扩展至其所在的整个生态系统，探讨‘伞护种’概念在保护生物学中的实际应用与长远影响，力求全面呈现这一保护工程的复杂性与伟大之处。</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从濒危到易危：保护成效的数据见证</a:t>
            </a:r>
          </a:p>
        </p:txBody>
      </p:sp>
      <p:sp>
        <p:nvSpPr>
          <p:cNvPr id="5" name="Rounded Rectangle 4"/>
          <p:cNvSpPr/>
          <p:nvPr/>
        </p:nvSpPr>
        <p:spPr>
          <a:xfrm>
            <a:off x="731520" y="1280160"/>
            <a:ext cx="10515600" cy="4572000"/>
          </a:xfrm>
          <a:prstGeom prst="roundRect">
            <a:avLst/>
          </a:prstGeom>
          <a:solidFill>
            <a:srgbClr val="F8FAFC"/>
          </a:solidFill>
          <a:ln w="12700">
            <a:solidFill>
              <a:srgbClr val="5B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914400"/>
          </a:xfrm>
          <a:prstGeom prst="rect">
            <a:avLst/>
          </a:prstGeom>
          <a:noFill/>
        </p:spPr>
        <p:txBody>
          <a:bodyPr wrap="square">
            <a:spAutoFit/>
          </a:bodyPr>
          <a:lstStyle/>
          <a:p>
            <a:pPr algn="ctr">
              <a:defRPr sz="1800" b="0">
                <a:solidFill>
                  <a:srgbClr val="5BA0F0"/>
                </a:solidFill>
                <a:latin typeface="Microsoft YaHei"/>
              </a:defRPr>
            </a:pPr>
            <a:r>
              <a:t>[bar图表]</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栖息地碎片化：最大的潜在威胁</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fragmented forest landscape with road cutting through bamboo habitat aerial view</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自然保护区网络：构建绿色屏障</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为应对栖息地丧失问题，中国建立了庞大的大熊猫自然保护区网络。目前，全国已建立67个大熊猫自然保护区，涵盖栖息地面积的56%以上，形成了以四川、陕西、甘肃三省为主体的保护体系。这些保护区不仅为大熊猫提供了安全的庇护所，还保护了金丝猴、羚牛等众多伴生物种。通过严格执法与巡护监测，非法狩猎和盗伐行为已得到有效遏制。此外，国家公园体制的建立进一步整合了分散的保护地，提升了管理效率。这一庞大的绿色屏障不仅是大熊猫的家园，也是长江上游重要的水源涵养地，对维护区域生态安全和水资源稳定具有不可替代的战略意义。</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人工繁育技术：攻克繁殖难题</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人工繁育技术的突破是保护史上的里程碑。针对大熊猫发情期短、受孕率低、幼仔存活难等生物学特性，科研人员攻克了发情预测、精液采集与输精、人工育幼等关键技术难题。目前，中国大熊猫人工繁育种群已突破600只，成为全球最大的人工繁育基地。更重要的是，我们建立了大熊猫遗传谱系数据库，通过科学配种避免近亲繁殖，最大化保留遗传多样性。这些技术不仅为野外种群提供了潜在的补充来源，更为濒危物种的复壮提供了宝贵的技术储备。人工繁育的成功，证明了人类有能力通过科学技术干预，扭转物种灭绝的趋势，为保护生物学树立了典范。</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野化放归：连接人工与自然的桥梁</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researcher releasing giant panda into wild forest mountainous area</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气候变化：未来的隐形挑战</a:t>
            </a:r>
          </a:p>
        </p:txBody>
      </p:sp>
      <p:sp>
        <p:nvSpPr>
          <p:cNvPr id="5" name="Rounded Rectangle 4"/>
          <p:cNvSpPr/>
          <p:nvPr/>
        </p:nvSpPr>
        <p:spPr>
          <a:xfrm>
            <a:off x="731520" y="1280160"/>
            <a:ext cx="10515600" cy="4572000"/>
          </a:xfrm>
          <a:prstGeom prst="roundRect">
            <a:avLst/>
          </a:prstGeom>
          <a:solidFill>
            <a:srgbClr val="F8FAFC"/>
          </a:solidFill>
          <a:ln w="12700">
            <a:solidFill>
              <a:srgbClr val="5BA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914400"/>
          </a:xfrm>
          <a:prstGeom prst="rect">
            <a:avLst/>
          </a:prstGeom>
          <a:noFill/>
        </p:spPr>
        <p:txBody>
          <a:bodyPr wrap="square">
            <a:spAutoFit/>
          </a:bodyPr>
          <a:lstStyle/>
          <a:p>
            <a:pPr algn="ctr">
              <a:defRPr sz="1800" b="0">
                <a:solidFill>
                  <a:srgbClr val="5BA0F0"/>
                </a:solidFill>
                <a:latin typeface="Microsoft YaHei"/>
              </a:defRPr>
            </a:pPr>
            <a:r>
              <a:t>[line图表]</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伞护种效应：保护一人，惠及全群</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作为‘伞护种’，其保护行动覆盖了庞大的地理空间，从而惠及了成千上万的其他物种。在大熊猫栖息地内，生活着金丝猴、绿尾虹雉、羚牛、红豆杉等珍稀动植物。保护大熊猫的栖息地，实质上是在保护整个森林生态系统的完整性与生物多样性。这种‘一举多得’的保护策略极具性价比，既满足了公众的情感共鸣，又实现了生态系统的整体保护。通过监测大熊猫的分布与健康状况，科学家可以间接评估整个生态系统的健康状况。因此，大熊猫不仅是可爱的明星动物，更是衡量生态福祉的关键指标，其保护成果直接反映了区域生物多样性的丰富程度。</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社区共管：从冲突到共赢</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local village people in rural china planting trees near mountains</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生态旅游：绿色经济的新引擎</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品牌带动了生态旅游的蓬勃发展，成为推动地方绿色转型的重要力量。以成都大熊猫繁育研究基地、卧龙自然保护区为代表的旅游目的地，每年吸引数百万游客，创造了巨大的经济价值。这些收入被重新投入到保护工作中，形成了‘以旅养保’的良性循环。然而，生态旅游也需警惕过度商业化对野生动物行为的干扰。因此，科学规划游客容量、推广无痕旅游理念、加强环境教育成为行业共识。高质量的生态旅游不仅带来经济收益，更是一场全民环境教育课，让游客在近距离接触中理解保护的重要性，将环保意识转化为日常生活中的实际行动。</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科研监测体系：科技赋能保护</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现代科技在大熊猫保护中发挥着越来越重要的作用。红外相机网络实现了24小时不间断监测，结合AI图像识别技术，自动统计个体数量与行为模式。无人机航测技术高效绘制栖息地地图，评估植被覆盖变化。GPS项圈追踪技术帮助研究人员了解大熊猫的活动范围与迁徙路径。分子生物学技术则用于非侵入式样本（如粪便）的性别鉴定与遗传分析。这些大数据的积累与应用，使得保护决策更加精准化、科学化。从‘经验保护’转向‘数据驱动保护’，不仅提高了管理效率，还为全球濒危物种保护提供了中国智慧与中国方案，推动了保护生物学的技术进步。</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国际合作：全球保护伙伴关系</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保护离不开国际社会的广泛参与。作为‘熊猫外交’的载体，大熊猫租借与合作研究促进了中外文化交流与科学合作。全球多个动物园建立了大熊猫繁育中心，开展联合科研与公众教育。这种软实力外交不仅提升了中国的国际形象，也汇聚了全球资金、技术与人才支持国内保护工作。同时，中国积极与周边国家分享保护经验，共同应对跨境生态问题。在全球生物多样性丧失的背景下，大熊猫成为连接不同文化、激发全球保护共识的纽带。加强国际多边合作，共享数据与最佳实践，是应对全球性生态危机的必由之路，体现了构建人类命运共同体的生态实践。</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遗传多样性：种群健康的基石</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scientist working with microscope and genetic samples in laboratory</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法律法规：构建坚实的法治屏障</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完善的法律体系是大熊猫保护的制度保障。《中华人民共和国野生动物保护法》《自然保护区条例》等法律法规明确禁止猎捕、交易和食用大熊猫。国家重点保护野生动物名录将大熊猫列为一级保护动物，违者将面临严厉刑罚。此外，林地保护、水土保持等相关法规也为栖息地提供了多重保护伞。执法力度的加强打击了非法贸易网络，净化了市场环境。然而，法律执行仍面临基层力量不足、跨区域协调难等挑战。未来需进一步完善司法解释，加大处罚力度，并引入公益诉讼机制，形成全方位、无死角的法治保护网，让破坏生态的行为付出沉重代价。</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公众参与：凝聚社会保护合力</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保护的巨大成功，离不开公众的广泛支持。从‘熊猫志愿’项目到校园环保教育，再到社交媒体上的自发传播，公众参与度空前提高。NGO组织在巡护监测、社区宣传方面发挥补充作用。企业通过CSR项目资助保护基地或购买碳汇。公众不仅是保护成果的受益者，更是行动者。通过‘云认养’、志愿服务等低门槛参与方式，每个人都能成为保护力量。这种自下而上的社会动员，形成了强大的舆论监督与资金支持网络。保护生物多样性不仅是政府和科学家的责任，更是每个公民的义务。提升全民生态意识，培育绿色生活方式，是实现人与自然和谐共生的社会基础。</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未来展望：从单一物种到生态系统</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panoramic view of lush green mountains and river ecosystem sunny day</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关键挑战总结：不确定性中的坚守</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尽管成就斐然，我们仍需正视挑战：一是栖息地破碎化的历史遗留问题短期内难以彻底解决；二是气候变化对竹子生长的不确定性影响加剧；三是人兽冲突在新开发区域可能再次显现；四是遗传多样性恢复需要极长时间；五是保护资金的可持续性与依赖性风险。这些挑战要求我们保持战略定力，摒弃短期行为，坚持长期主义。每一个问题的解决都需要跨学科协作、政策支持与社会共识。面对不确定性，唯有坚守科学精神与生态伦理，不断调整优化保护策略，才能确保大熊猫种群在变幻莫测的自然与人文环境中稳健前行，确保护航成果不逆转。</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行动指南：我们能做什么？</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作为个体，我们可以采取以下行动支持保护：第一，拒绝购买任何象牙、犀角等野生动物制品，切断非法贸易链条；第二，选择可持续认证的木材与纸制品，减少栖息地破坏压力；第三，支持正规的保护NGO组织，参与捐款或志愿服务；第四，践行低碳生活，减少碳排放以减缓气候变化对栖息地的影响；第五，积极传播保护知识，提升身边人的环保意识；第六，选择负责任的生态旅游产品，杜绝干扰野生动物行为。每一份微小的行动汇聚起来，都是对自然保护的巨大贡献。保护大熊猫不仅仅是保护一种动物，更是保护我们赖以生存的空气、水和未来。</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核心结论：生态平衡的共同责任</a:t>
            </a:r>
          </a:p>
        </p:txBody>
      </p:sp>
      <p:sp>
        <p:nvSpPr>
          <p:cNvPr id="5" name="Rectangle 4"/>
          <p:cNvSpPr/>
          <p:nvPr/>
        </p:nvSpPr>
        <p:spPr>
          <a:xfrm>
            <a:off x="731520" y="1005840"/>
            <a:ext cx="2286000" cy="4572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03520" cy="502920"/>
          </a:xfrm>
          <a:prstGeom prst="rect">
            <a:avLst/>
          </a:prstGeom>
          <a:noFill/>
        </p:spPr>
        <p:txBody>
          <a:bodyPr wrap="square">
            <a:spAutoFit/>
          </a:bodyPr>
          <a:lstStyle/>
          <a:p>
            <a:pPr algn="l">
              <a:defRPr sz="1400" b="0">
                <a:solidFill>
                  <a:srgbClr val="555555"/>
                </a:solidFill>
                <a:latin typeface="Microsoft YaHei"/>
              </a:defRPr>
            </a:pPr>
            <a:r>
              <a:t>• 大熊猫保护的故事证明，人类活动导致的生态危机可以通过科学规划、政策干预与社会协同得到逆转。这一历程不仅挽救了一个物种，更修复了大片森林，改善了民生，提升了全球保护意识。核心启示在于：保护不是 isolated 的行为，而是复杂的系统工程，涉及科学、经济、法律与文化多个层面。‘易危’等级的调整是里程碑，而非终点。保持警惕，持续投入，强化国际合作，是确保持续成功的关键。我们必须将大熊猫保护的精神内化为全球生物多样性保护的普遍准则，认识到保护自然就是保护人类自身，共同承担起维护地球生命支持系统的历史责任。</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515600" cy="640080"/>
          </a:xfrm>
          <a:prstGeom prst="rect">
            <a:avLst/>
          </a:prstGeom>
          <a:noFill/>
        </p:spPr>
        <p:txBody>
          <a:bodyPr wrap="square">
            <a:spAutoFit/>
          </a:bodyPr>
          <a:lstStyle/>
          <a:p>
            <a:pPr algn="l">
              <a:defRPr sz="2600" b="1">
                <a:solidFill>
                  <a:srgbClr val="222222"/>
                </a:solidFill>
                <a:latin typeface="Microsoft YaHei"/>
              </a:defRPr>
            </a:pPr>
            <a:r>
              <a:t>致谢与问答环节</a:t>
            </a:r>
          </a:p>
        </p:txBody>
      </p:sp>
      <p:sp>
        <p:nvSpPr>
          <p:cNvPr id="5" name="Rounded Rectangle 4"/>
          <p:cNvSpPr/>
          <p:nvPr/>
        </p:nvSpPr>
        <p:spPr>
          <a:xfrm>
            <a:off x="1371600" y="1371600"/>
            <a:ext cx="9418320" cy="4389120"/>
          </a:xfrm>
          <a:prstGeom prst="roundRect">
            <a:avLst/>
          </a:prstGeom>
          <a:solidFill>
            <a:srgbClr val="F0F4F8"/>
          </a:solidFill>
          <a:ln w="19050">
            <a:solidFill>
              <a:srgbClr val="2F8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743200"/>
            <a:ext cx="8503920" cy="1371600"/>
          </a:xfrm>
          <a:prstGeom prst="rect">
            <a:avLst/>
          </a:prstGeom>
          <a:noFill/>
        </p:spPr>
        <p:txBody>
          <a:bodyPr wrap="square">
            <a:spAutoFit/>
          </a:bodyPr>
          <a:lstStyle/>
          <a:p>
            <a:pPr algn="ctr">
              <a:defRPr sz="1600" b="0">
                <a:solidFill>
                  <a:srgbClr val="5BA0F0"/>
                </a:solidFill>
                <a:latin typeface="Microsoft YaHei"/>
              </a:defRPr>
            </a:pPr>
            <a:r>
              <a:t>[配图] giant panda sleeping peacefully on tree branch in misty mountain forest</a:t>
            </a:r>
          </a:p>
        </p:txBody>
      </p:sp>
      <p:sp>
        <p:nvSpPr>
          <p:cNvPr id="7" name="Rectangle 6"/>
          <p:cNvSpPr/>
          <p:nvPr/>
        </p:nvSpPr>
        <p:spPr>
          <a:xfrm>
            <a:off x="457200" y="6309360"/>
            <a:ext cx="11247120" cy="36576"/>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6400800"/>
            <a:ext cx="1371600" cy="365760"/>
          </a:xfrm>
          <a:prstGeom prst="rect">
            <a:avLst/>
          </a:prstGeom>
          <a:noFill/>
        </p:spPr>
        <p:txBody>
          <a:bodyPr wrap="none">
            <a:spAutoFit/>
          </a:bodyPr>
          <a:lstStyle/>
          <a:p>
            <a:pPr algn="r">
              <a:defRPr sz="1000">
                <a:solidFill>
                  <a:srgbClr val="AAAAAA"/>
                </a:solidFill>
              </a:defRPr>
            </a:pPr>
            <a: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