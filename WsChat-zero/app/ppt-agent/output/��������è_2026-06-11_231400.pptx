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中国碳中和战略全景解析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555555"/>
                </a:solidFill>
                <a:latin typeface="Microsoft YaHei"/>
              </a:defRPr>
            </a:pPr>
            <a:r>
              <a:t>本演示文稿旨在深入探讨中国在2030年碳达峰与2060年碳中和（简称“双碳”）目标下的战略路径与实施细节。我们将首先回顾“双碳”目标提出的宏观背景与全球气候治理意义，随后分析当前中国能源结构现状及面临的挑战。核心部分将详细拆解工业、能源、交通等重点领域的减排技术路径与经济转型机遇，特别关注绿色金融与碳交易市场的发展。最后，我们将总结关键数据，展望零碳未来的社会经济效益，并为政策制定者与企业提供可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目录与议程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本次演示将分为六个主要部分，系统梳理碳中和的全貌。第一部分为宏观背景，解读“双碳”提出的必要性与国际承诺；第二部分剖析现状，通过数据展示中国碳排放总量及结构特征；第三部分聚焦能源转型，详细阐述可再生能源替代化石燃料的技术路径与进度；第四部分深入产业变革，分析钢铁、水泥、化工等高耗能行业的脱碳方案；第五部分探讨市场机制，评估全国碳市场及绿色金融对减排的驱动作用；第六部分为未来展望，预测碳中和带来的经济重构与社会影响。每一部分均配有详细的数据图表与案例解析，确保内容既有理论深度又有实践指导意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宏观背景：全球气候危机与中国责任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global warming earth temperature rise infographic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现状分析：中国碳排放结构与特征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[pie图表]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能源转型：构建清洁低碳能源体系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offshore wind farm solar farm large scale renewable energy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电力行业：先行一步的脱碳先锋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电力行业是中国碳排放最大的单一部门，约占总排放量的40%以上。其转型路径最为清晰：从“煤电为主”转向“新能源为主”。首先，严控新增煤电项目，现役煤电机组进行灵活性改造，从主力电源逐步转变为调节性电源。其次，大力发展海上风电和沙漠、戈壁、荒漠大型光伏基地，通过特高压输电通道送往负荷中心。第三，推动电力市场化改革，建立绿色电力交易机制，让绿电环境价值变现。第四，加强需求侧响应，利用大数据和AI技术优化用电负荷。预计2035年，非化石能源发电量占比将超过50%，2060年接近90%，电力部门基本实现净零排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工业领域：高耗能行业的绿色革命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modern green steel factory industrial plant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交通运输：电动化与多式联运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交通领域减排主要依靠“电气化”和“结构优化”。公路运输方面，新能源汽车（NVE）渗透率将持续提升，至2030年新车销售有望全部为新能源车。配套基础设施如充电桩、换电站需大规模建设。铁路和水路运输将承担更多货运任务，推行多式联运，降低公路货运比例，因为单位重量公里能耗铁路远低于公路。航空和航运领域较难电气化，将依赖可持续航空燃料（SAF）和绿氨/绿甲醇燃料。城市交通规划倡导TOD（以公共交通为导向的开发）模式，减少私家车依赖，推广慢行交通系统。此外，智能交通系统（ITS）将通过优化交通流减少拥堵产生的无效排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建筑领域：全生命周期碳管理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sustainable green building with solar panels rooftop garden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负排放技术：CCUS与碳汇建设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尽管大幅减排，部分难以避免的排放仍需通过负排放技术抵消。碳捕获、利用与封存（CCUS）技术是关键，包括从电厂或工厂尾气中捕获二氧化碳，然后注入地下咸水层或枯竭油气田封存，或用于驱油、化工原料。目前成本较高，需政策补贴和技术突破提升经济性。林业碳汇方面，通过植树造林、森林经营提高森林吸收二氧化碳能力，是成本最低的负排放手段。土壤碳汇通过改进农业耕作方式增加土壤有机质。海洋碳汇尚处于研究阶段，但潜力巨大。中国已启动多个CCUS示范项目，并建立林草碳汇计量监测体系。负排放技术将从补充手段逐步成为平衡剩余排放的重要组成部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碳市场：全国碳排放权交易体系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[line图表]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绿色金融：赋能低碳转型的血液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技术创新：驱动变革的核心引擎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laboratory scientist testing green energy technology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循环经济：资源高效利用的路径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碳中和不仅是能源转型，更是资源利用方式的变革。循环经济强调“减量化、再利用、资源化”。在制造业，推行生态设计，延长产品寿命，提高可维修性和可回收性。在消费端，倡导绿色消费，减少一次性塑料使用，推广共享经济模式。废弃物处理方面，提升垃圾分类效率，提高废钢、废铝、废塑料、废旧动力电池回收率。废旧动力电池梯次利用于储能，最后实现材料再生。农业废弃物转化为生物质能源或有机肥。循环经济可减少原材料开采带来的隐性碳排放，降低环境负荷，同时创造新的经济增长点，实现环境效益与经济效益的双赢，是可持续发展的重要支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国际比较：中国与其他主要经济体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world map showing climate action commitments countries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经济影响：绿色增长与新机遇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51560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BA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BA0F0"/>
                </a:solidFill>
                <a:latin typeface="Microsoft YaHei"/>
              </a:defRPr>
            </a:pPr>
            <a:r>
              <a:t>[bar图表]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社会公平：公正转型的挑战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diverse group of people community meeting sustainability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政策体系：顶层设计与法律法规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中国已形成“1+N”政策体系，1是顶层设计《关于完整准确全面贯彻新发展理念做好碳达峰碳中和工作的意见》，N是能源、工业、交通等各领域具体实施方案。法律法规方面，《环境保护法》修订强化责任追究，《气候变化应对法》正在研讨中。标准体系涵盖能耗限额、产品碳足迹、温室气体核算指南等。监管机制强化地方双控考核，将碳排放指标纳入地方政府绩效评价。问责机制严格，对未完成目标地区进行约谈通报。激励政策包括税收优惠、财政补贴、绿色采购。这一体系具有系统性强、执行力度大、动态调整快的特点，确保了国家战略的高效落地，但也要求地方避免一刀切，因地制宜制定实施细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企业行动：战略调整与实践案例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corporate team meeting sustainability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未来展望：2030与2060的关键节点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展望2030年，中国将提前完成碳达峰目标，非化石能源占比大幅提升，新能源汽车保有量全球第一，光伏风电装机突破12亿千瓦，碳市场覆盖行业扩围，绿色金融规模居世界前列。2060年，中国将实现碳中和，能源结构彻底清洁化，CCUS和负排放技术广泛应用，深度脱碳产业成为经济支柱，生态环境根本好转，蓝天白云成为常态。这一过程将是漫长而艰巨的，需要持之以恒的努力。技术突破、政策完善、公众参与缺一不可。中国路径将为发展中国家提供借鉴，推动全球气候治理进程。我们正站在历史性的转折点上，每一步行动都关乎未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总结与关键启示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9418320" cy="4389120"/>
          </a:xfrm>
          <a:prstGeom prst="roundRect">
            <a:avLst/>
          </a:prstGeom>
          <a:solidFill>
            <a:srgbClr val="F0F4F8"/>
          </a:solidFill>
          <a:ln w="19050">
            <a:solidFill>
              <a:srgbClr val="2F8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BA0F0"/>
                </a:solidFill>
                <a:latin typeface="Microsoft YaHei"/>
              </a:defRPr>
            </a:pPr>
            <a:r>
              <a:t>[配图] handshake agreement future sustainability hope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Microsoft YaHei"/>
              </a:defRPr>
            </a:pPr>
            <a:r>
              <a:t>致谢与问答环节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05840"/>
            <a:ext cx="2286000" cy="45720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• 感谢各位聆听本次关于中国碳中和战略的深度解析。本内容基于公开资料与专业分析整理，力求准确客观。碳中和之路任重道远，需要全社会的共同参与和努力。希望今天的分享能为您提供有价值的参考与启示。接下来是问答环节，欢迎就能源转型技术细节、碳市场交易策略、企业减排案例、政策解读等方面提出问题，我们将竭诚解答。如有进一步的合作意向或数据需求，请通过屏幕上的联系方式与我们取得联系。让我们携手共进，为实现绿色低碳发展、守护地球家园贡献力量。谢谢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309360"/>
            <a:ext cx="11247120" cy="36576"/>
          </a:xfrm>
          <a:prstGeom prst="rect">
            <a:avLst/>
          </a:prstGeom>
          <a:solidFill>
            <a:srgbClr val="2F8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AAAAA"/>
                </a:solidFill>
              </a:defRPr>
            </a:pPr>
            <a: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