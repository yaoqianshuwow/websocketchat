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76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6" Type="http://schemas.openxmlformats.org/officeDocument/2006/relationships/tableStyles" Target="tableStyles.xml"/><Relationship Id="rId25" Type="http://schemas.openxmlformats.org/officeDocument/2006/relationships/viewProps" Target="viewProps.xml"/><Relationship Id="rId24" Type="http://schemas.openxmlformats.org/officeDocument/2006/relationships/presProps" Target="presProps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92608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515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Go + Eino：重塑AI应用开发范式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555555"/>
                </a:solidFill>
                <a:latin typeface="微软雅黑" panose="020B0503020204020204" charset="-122"/>
              </a:defRPr>
            </a:pPr>
            <a:r>
              <a:t>1. 封面标题：Go + Eino 驱动下一代高性能AI应用</a:t>
            </a:r>
            <a:br/>
            <a:r>
              <a:t>2. 副标题：结合Go的并发优势与Eino的AI编排能力，构建可扩展的智能系统</a:t>
            </a:r>
            <a:br/>
            <a:r>
              <a:t>3. 演讲者/团队信息</a:t>
            </a:r>
            <a:br/>
            <a:r>
              <a:t>4. 日期与地点</a:t>
            </a:r>
            <a:br/>
            <a:r>
              <a:t>5. 背景：当前AI应用开发面临的延迟高、资源消耗大、编排复杂等痛点</a:t>
            </a:r>
            <a:br/>
            <a:r>
              <a:t>6. 目标：探索如何利用Go语言特性优化AI工作流，通过Eino框架实现高效Agent构建</a:t>
            </a:r>
            <a:br/>
            <a:r>
              <a:t>7. 核心价值：性能、稳定性、易维护性</a:t>
            </a:r>
            <a:br/>
            <a:r>
              <a:t>8. 预期成果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AAAAA"/>
                </a:solidFill>
              </a:defRPr>
            </a:pPr>
            <a:r>
              <a:t>1 / 20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222222"/>
                </a:solidFill>
                <a:latin typeface="微软雅黑" panose="020B0503020204020204" charset="-122"/>
              </a:defRPr>
            </a:pPr>
            <a:r>
              <a:t>目录与议程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05840"/>
            <a:ext cx="2286000" cy="4572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微软雅黑" panose="020B0503020204020204" charset="-122"/>
              </a:defRPr>
            </a:pPr>
            <a:r>
              <a:t>• 1. 行业背景：LLM时代的挑战与机遇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92024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微软雅黑" panose="020B0503020204020204" charset="-122"/>
              </a:defRPr>
            </a:pPr>
            <a:r>
              <a:t>• 2. 技术栈解析：为什么选择Go和Eino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46888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微软雅黑" panose="020B0503020204020204" charset="-122"/>
              </a:defRPr>
            </a:pPr>
            <a:r>
              <a:t>• 3. Eino框架核心概念详解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01752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微软雅黑" panose="020B0503020204020204" charset="-122"/>
              </a:defRPr>
            </a:pPr>
            <a:r>
              <a:t>• 4. Go语言在AI领域的性能优势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56616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微软雅黑" panose="020B0503020204020204" charset="-122"/>
              </a:defRPr>
            </a:pPr>
            <a:r>
              <a:t>• 5. 案例研究：高并发AI服务架构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11480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微软雅黑" panose="020B0503020204020204" charset="-122"/>
              </a:defRPr>
            </a:pPr>
            <a:r>
              <a:t>• 6. Agent开发模式与实战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137160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微软雅黑" panose="020B0503020204020204" charset="-122"/>
              </a:defRPr>
            </a:pPr>
            <a:r>
              <a:t>• 7. 数据流处理与记忆机制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192024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微软雅黑" panose="020B0503020204020204" charset="-122"/>
              </a:defRPr>
            </a:pPr>
            <a:r>
              <a:t>• 8. 评估与优化策略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246888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微软雅黑" panose="020B0503020204020204" charset="-122"/>
              </a:defRPr>
            </a:pPr>
            <a:r>
              <a:t>• 9. 常见陷阱与解决方案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301752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微软雅黑" panose="020B0503020204020204" charset="-122"/>
              </a:defRPr>
            </a:pPr>
            <a:r>
              <a:t>• 10. 社区生态与未来展望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356616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微软雅黑" panose="020B0503020204020204" charset="-122"/>
              </a:defRPr>
            </a:pPr>
            <a:r>
              <a:t>• 11. 总结与Q&amp;A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6309360"/>
            <a:ext cx="11247120" cy="36576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AAAAA"/>
                </a:solidFill>
              </a:defRPr>
            </a:pPr>
            <a:r>
              <a:t>2 / 20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222222"/>
                </a:solidFill>
                <a:latin typeface="微软雅黑" panose="020B0503020204020204" charset="-122"/>
              </a:defRPr>
            </a:pPr>
            <a:r>
              <a:t>LLM时代的挑战与机遇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10515600" cy="4572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5BA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0" y="2743200"/>
            <a:ext cx="8503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5BA0F0"/>
                </a:solidFill>
                <a:latin typeface="微软雅黑" panose="020B0503020204020204" charset="-122"/>
              </a:defRPr>
            </a:pPr>
            <a:r>
              <a:t>[pie图表]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309360"/>
            <a:ext cx="11247120" cy="36576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AAAAA"/>
                </a:solidFill>
              </a:defRPr>
            </a:pPr>
            <a:r>
              <a:t>3 / 20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222222"/>
                </a:solidFill>
                <a:latin typeface="微软雅黑" panose="020B0503020204020204" charset="-122"/>
              </a:defRPr>
            </a:pPr>
            <a:r>
              <a:t>为什么选择Go语言？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05840"/>
            <a:ext cx="2286000" cy="4572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微软雅黑" panose="020B0503020204020204" charset="-122"/>
              </a:defRPr>
            </a:pPr>
            <a:r>
              <a:t>• 1. 卓越的性能：接近C++的执行速度，远低于Python的开销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92024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微软雅黑" panose="020B0503020204020204" charset="-122"/>
              </a:defRPr>
            </a:pPr>
            <a:r>
              <a:t>• 2. 原生并发支持：Goroutine机制轻松应对数万级并发请求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46888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微软雅黑" panose="020B0503020204020204" charset="-122"/>
              </a:defRPr>
            </a:pPr>
            <a:r>
              <a:t>• 3. 静态类型安全：减少运行时错误，提升代码可维护性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01752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微软雅黑" panose="020B0503020204020204" charset="-122"/>
              </a:defRPr>
            </a:pPr>
            <a:r>
              <a:t>• 4. 优秀的垃圾回收：低延迟GC策略适合实时AI响应场景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137160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微软雅黑" panose="020B0503020204020204" charset="-122"/>
              </a:defRPr>
            </a:pPr>
            <a:r>
              <a:t>• 5. 丰富的标准库：网络、加密、JSON处理等开箱即用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192024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微软雅黑" panose="020B0503020204020204" charset="-122"/>
              </a:defRPr>
            </a:pPr>
            <a:r>
              <a:t>• 6. 强大的跨平台编译：单二进制文件部署，简化运维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246888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微软雅黑" panose="020B0503020204020204" charset="-122"/>
              </a:defRPr>
            </a:pPr>
            <a:r>
              <a:t>• 7. 云原生友好：在Kubernetes和Docker环境中表现优异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301752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微软雅黑" panose="020B0503020204020204" charset="-122"/>
              </a:defRPr>
            </a:pPr>
            <a:r>
              <a:t>• 8. 活跃的开源社区：大量高性能中间件和工具库支持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6309360"/>
            <a:ext cx="11247120" cy="36576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AAAAA"/>
                </a:solidFill>
              </a:defRPr>
            </a:pPr>
            <a:r>
              <a:t>4 / 20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222222"/>
                </a:solidFill>
                <a:latin typeface="微软雅黑" panose="020B0503020204020204" charset="-122"/>
              </a:defRPr>
            </a:pPr>
            <a:r>
              <a:t>Eino框架核心概念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1371600"/>
            <a:ext cx="9418320" cy="4389120"/>
          </a:xfrm>
          <a:prstGeom prst="roundRect">
            <a:avLst/>
          </a:prstGeom>
          <a:solidFill>
            <a:srgbClr val="F0F4F8"/>
          </a:solidFill>
          <a:ln w="19050">
            <a:solidFill>
              <a:srgbClr val="2F8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0" y="2743200"/>
            <a:ext cx="85039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5BA0F0"/>
                </a:solidFill>
                <a:latin typeface="微软雅黑" panose="020B0503020204020204" charset="-122"/>
              </a:defRPr>
            </a:pPr>
            <a:r>
              <a:t>[配图] software architecture diagram flowchart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309360"/>
            <a:ext cx="11247120" cy="36576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AAAAA"/>
                </a:solidFill>
              </a:defRPr>
            </a:pPr>
            <a:r>
              <a:t>5 / 20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222222"/>
                </a:solidFill>
                <a:latin typeface="微软雅黑" panose="020B0503020204020204" charset="-122"/>
              </a:defRPr>
            </a:pPr>
            <a:r>
              <a:t>Go+AI性能对比分析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10515600" cy="4572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5BA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0" y="2743200"/>
            <a:ext cx="8503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5BA0F0"/>
                </a:solidFill>
                <a:latin typeface="微软雅黑" panose="020B0503020204020204" charset="-122"/>
              </a:defRPr>
            </a:pPr>
            <a:r>
              <a:t>[bar图表]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309360"/>
            <a:ext cx="11247120" cy="36576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AAAAA"/>
                </a:solidFill>
              </a:defRPr>
            </a:pPr>
            <a:r>
              <a:t>6 / 20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222222"/>
                </a:solidFill>
                <a:latin typeface="微软雅黑" panose="020B0503020204020204" charset="-122"/>
              </a:defRPr>
            </a:pPr>
            <a:r>
              <a:t>构建第一个Eino应用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1371600"/>
            <a:ext cx="9418320" cy="4389120"/>
          </a:xfrm>
          <a:prstGeom prst="roundRect">
            <a:avLst/>
          </a:prstGeom>
          <a:solidFill>
            <a:srgbClr val="F0F4F8"/>
          </a:solidFill>
          <a:ln w="19050">
            <a:solidFill>
              <a:srgbClr val="2F8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0" y="2743200"/>
            <a:ext cx="85039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5BA0F0"/>
                </a:solidFill>
                <a:latin typeface="微软雅黑" panose="020B0503020204020204" charset="-122"/>
              </a:defRPr>
            </a:pPr>
            <a:r>
              <a:t>[配图] code editor screen with go code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309360"/>
            <a:ext cx="11247120" cy="36576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AAAAA"/>
                </a:solidFill>
              </a:defRPr>
            </a:pPr>
            <a:r>
              <a:t>7 / 20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222222"/>
                </a:solidFill>
                <a:latin typeface="微软雅黑" panose="020B0503020204020204" charset="-122"/>
              </a:defRPr>
            </a:pPr>
            <a:r>
              <a:t>高级编排：Graph工作流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05840"/>
            <a:ext cx="2286000" cy="4572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微软雅黑" panose="020B0503020204020204" charset="-122"/>
              </a:defRPr>
            </a:pPr>
            <a:r>
              <a:t>• 1. Graph允许构建有向无环图（DAG）表示复杂逻辑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92024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微软雅黑" panose="020B0503020204020204" charset="-122"/>
              </a:defRPr>
            </a:pPr>
            <a:r>
              <a:t>• 2. 节点定义：每个节点可以是LLM调用、工具执行或条件判断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46888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微软雅黑" panose="020B0503020204020204" charset="-122"/>
              </a:defRPr>
            </a:pPr>
            <a:r>
              <a:t>• 3. 边连接：定义节点间的依赖关系与数据流向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01752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微软雅黑" panose="020B0503020204020204" charset="-122"/>
              </a:defRPr>
            </a:pPr>
            <a:r>
              <a:t>• 4. 条件路由：根据LLM输出动态决定下一步执行路径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137160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微软雅黑" panose="020B0503020204020204" charset="-122"/>
              </a:defRPr>
            </a:pPr>
            <a:r>
              <a:t>• 5. 并行执行：支持多个节点并行运行，缩短整体耗时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192024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微软雅黑" panose="020B0503020204020204" charset="-122"/>
              </a:defRPr>
            </a:pPr>
            <a:r>
              <a:t>• 6. 循环支持：通过特定机制实现迭代推理或多步验证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246888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微软雅黑" panose="020B0503020204020204" charset="-122"/>
              </a:defRPr>
            </a:pPr>
            <a:r>
              <a:t>• 7. 状态传递：节点间共享上下文，保持信息连贯性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301752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微软雅黑" panose="020B0503020204020204" charset="-122"/>
              </a:defRPr>
            </a:pPr>
            <a:r>
              <a:t>• 8. 可视化调试：Graph结构可导出为图表，便于团队评审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6309360"/>
            <a:ext cx="11247120" cy="36576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AAAAA"/>
                </a:solidFill>
              </a:defRPr>
            </a:pPr>
            <a:r>
              <a:t>8 / 20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222222"/>
                </a:solidFill>
                <a:latin typeface="微软雅黑" panose="020B0503020204020204" charset="-122"/>
              </a:defRPr>
            </a:pPr>
            <a:r>
              <a:t>Agent开发模式详解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1371600"/>
            <a:ext cx="9418320" cy="4389120"/>
          </a:xfrm>
          <a:prstGeom prst="roundRect">
            <a:avLst/>
          </a:prstGeom>
          <a:solidFill>
            <a:srgbClr val="F0F4F8"/>
          </a:solidFill>
          <a:ln w="19050">
            <a:solidFill>
              <a:srgbClr val="2F8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0" y="2743200"/>
            <a:ext cx="85039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5BA0F0"/>
                </a:solidFill>
                <a:latin typeface="微软雅黑" panose="020B0503020204020204" charset="-122"/>
              </a:defRPr>
            </a:pPr>
            <a:r>
              <a:t>[配图] robot arm interacting with digital interface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309360"/>
            <a:ext cx="11247120" cy="36576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AAAAA"/>
                </a:solidFill>
              </a:defRPr>
            </a:pPr>
            <a:r>
              <a:t>9 / 20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222222"/>
                </a:solidFill>
                <a:latin typeface="微软雅黑" panose="020B0503020204020204" charset="-122"/>
              </a:defRPr>
            </a:pPr>
            <a:r>
              <a:t>数据流与记忆管理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10515600" cy="4572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5BA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0" y="2743200"/>
            <a:ext cx="8503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5BA0F0"/>
                </a:solidFill>
                <a:latin typeface="微软雅黑" panose="020B0503020204020204" charset="-122"/>
              </a:defRPr>
            </a:pPr>
            <a:r>
              <a:t>[line图表]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309360"/>
            <a:ext cx="11247120" cy="36576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AAAAA"/>
                </a:solidFill>
              </a:defRPr>
            </a:pPr>
            <a:r>
              <a:t>10 / 20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222222"/>
                </a:solidFill>
                <a:latin typeface="微软雅黑" panose="020B0503020204020204" charset="-122"/>
              </a:defRPr>
            </a:pPr>
            <a:r>
              <a:t>案例：高并发客服系统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10515600" cy="4572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5BA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0" y="2743200"/>
            <a:ext cx="8503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5BA0F0"/>
                </a:solidFill>
                <a:latin typeface="微软雅黑" panose="020B0503020204020204" charset="-122"/>
              </a:defRPr>
            </a:pPr>
            <a:r>
              <a:t>[bar图表]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309360"/>
            <a:ext cx="11247120" cy="36576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AAAAA"/>
                </a:solidFill>
              </a:defRPr>
            </a:pPr>
            <a:r>
              <a:t>11 / 20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222222"/>
                </a:solidFill>
                <a:latin typeface="微软雅黑" panose="020B0503020204020204" charset="-122"/>
              </a:defRPr>
            </a:pPr>
            <a:r>
              <a:t>案例：自动化代码审查Agent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05840"/>
            <a:ext cx="2286000" cy="4572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微软雅黑" panose="020B0503020204020204" charset="-122"/>
              </a:defRPr>
            </a:pPr>
            <a:r>
              <a:t>• 1. 场景：GitHub PR自动审查，提升代码质量与团队效率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92024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微软雅黑" panose="020B0503020204020204" charset="-122"/>
              </a:defRPr>
            </a:pPr>
            <a:r>
              <a:t>• 2. 流程：监听PR事件 -&gt; 获取代码差异 -&gt; LLM分析 -&gt; 生成评论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46888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微软雅黑" panose="020B0503020204020204" charset="-122"/>
              </a:defRPr>
            </a:pPr>
            <a:r>
              <a:t>• 3. 工具集成：结合静态分析工具（如golangci-lint）结果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01752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微软雅黑" panose="020B0503020204020204" charset="-122"/>
              </a:defRPr>
            </a:pPr>
            <a:r>
              <a:t>• 4. 上下文增强：提供项目规范、历史bug模式作为Prompt上下文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137160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微软雅黑" panose="020B0503020204020204" charset="-122"/>
              </a:defRPr>
            </a:pPr>
            <a:r>
              <a:t>• 5. 置信度评分：Agent对每条建议标注置信度，人工优先处理高置信度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192024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微软雅黑" panose="020B0503020204020204" charset="-122"/>
              </a:defRPr>
            </a:pPr>
            <a:r>
              <a:t>• 6. 批量处理：利用Go并发特性同时审查多个PR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246888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微软雅黑" panose="020B0503020204020204" charset="-122"/>
              </a:defRPr>
            </a:pPr>
            <a:r>
              <a:t>• 7. 反馈闭环：收集开发者对评论的采纳情况，优化Prompt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301752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微软雅黑" panose="020B0503020204020204" charset="-122"/>
              </a:defRPr>
            </a:pPr>
            <a:r>
              <a:t>• 8. 价值：代码缺陷率降低30%，Review时间缩短60%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6309360"/>
            <a:ext cx="11247120" cy="36576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AAAAA"/>
                </a:solidFill>
              </a:defRPr>
            </a:pPr>
            <a:r>
              <a:t>12 / 20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222222"/>
                </a:solidFill>
                <a:latin typeface="微软雅黑" panose="020B0503020204020204" charset="-122"/>
              </a:defRPr>
            </a:pPr>
            <a:r>
              <a:t>评估指标与优化策略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10515600" cy="4572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5BA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0" y="2743200"/>
            <a:ext cx="8503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5BA0F0"/>
                </a:solidFill>
                <a:latin typeface="微软雅黑" panose="020B0503020204020204" charset="-122"/>
              </a:defRPr>
            </a:pPr>
            <a:r>
              <a:t>[pie图表]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309360"/>
            <a:ext cx="11247120" cy="36576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AAAAA"/>
                </a:solidFill>
              </a:defRPr>
            </a:pPr>
            <a:r>
              <a:t>13 / 20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222222"/>
                </a:solidFill>
                <a:latin typeface="微软雅黑" panose="020B0503020204020204" charset="-122"/>
              </a:defRPr>
            </a:pPr>
            <a:r>
              <a:t>常见陷阱与解决方案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05840"/>
            <a:ext cx="2286000" cy="4572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微软雅黑" panose="020B0503020204020204" charset="-122"/>
              </a:defRPr>
            </a:pPr>
            <a:r>
              <a:t>• 1. 陷阱1：Prompt工程不当导致幻觉 -&gt; 解决：使用Few-Shot与结构化输出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92024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微软雅黑" panose="020B0503020204020204" charset="-122"/>
              </a:defRPr>
            </a:pPr>
            <a:r>
              <a:t>• 2. 陷阱2：并发失控导致资源耗尽 -&gt; 解决：设置GOMAXPROCS与信号量限制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46888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微软雅黑" panose="020B0503020204020204" charset="-122"/>
              </a:defRPr>
            </a:pPr>
            <a:r>
              <a:t>• 3. 陷阱3：Token超限截断丢失信息 -&gt; 解决：实现智能摘要与分块策略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01752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微软雅黑" panose="020B0503020204020204" charset="-122"/>
              </a:defRPr>
            </a:pPr>
            <a:r>
              <a:t>• 4. 陷阱4：模型响应格式不一致 -&gt; 解决：强制JSON模式与Schema验证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137160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微软雅黑" panose="020B0503020204020204" charset="-122"/>
              </a:defRPr>
            </a:pPr>
            <a:r>
              <a:t>• 5. 陷阱5：记忆膨胀导致成本飙升 -&gt; 解决：实施记忆压缩与滑动窗口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192024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微软雅黑" panose="020B0503020204020204" charset="-122"/>
              </a:defRPr>
            </a:pPr>
            <a:r>
              <a:t>• 6. 陷阱6：第三方API不稳定 -&gt; 解决：实现指数退避重试与熔断器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246888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微软雅黑" panose="020B0503020204020204" charset="-122"/>
              </a:defRPr>
            </a:pPr>
            <a:r>
              <a:t>• 7. 陷阱7：调试困难 -&gt; 解决：引入分布式追踪ID，记录全链路日志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301752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微软雅黑" panose="020B0503020204020204" charset="-122"/>
              </a:defRPr>
            </a:pPr>
            <a:r>
              <a:t>• 8. 陷阱8：安全漏洞 -&gt; 解决：输入净化、权限最小化与审计日志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6309360"/>
            <a:ext cx="11247120" cy="36576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AAAAA"/>
                </a:solidFill>
              </a:defRPr>
            </a:pPr>
            <a:r>
              <a:t>14 / 20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222222"/>
                </a:solidFill>
                <a:latin typeface="微软雅黑" panose="020B0503020204020204" charset="-122"/>
              </a:defRPr>
            </a:pPr>
            <a:r>
              <a:t>社区生态与开源项目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1371600"/>
            <a:ext cx="9418320" cy="4389120"/>
          </a:xfrm>
          <a:prstGeom prst="roundRect">
            <a:avLst/>
          </a:prstGeom>
          <a:solidFill>
            <a:srgbClr val="F0F4F8"/>
          </a:solidFill>
          <a:ln w="19050">
            <a:solidFill>
              <a:srgbClr val="2F8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0" y="2743200"/>
            <a:ext cx="85039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5BA0F0"/>
                </a:solidFill>
                <a:latin typeface="微软雅黑" panose="020B0503020204020204" charset="-122"/>
              </a:defRPr>
            </a:pPr>
            <a:r>
              <a:t>[配图] github repository page screenshot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309360"/>
            <a:ext cx="11247120" cy="36576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AAAAA"/>
                </a:solidFill>
              </a:defRPr>
            </a:pPr>
            <a:r>
              <a:t>15 / 20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222222"/>
                </a:solidFill>
                <a:latin typeface="微软雅黑" panose="020B0503020204020204" charset="-122"/>
              </a:defRPr>
            </a:pPr>
            <a:r>
              <a:t>未来展望：AI应用的新趋势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05840"/>
            <a:ext cx="2286000" cy="4572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微软雅黑" panose="020B0503020204020204" charset="-122"/>
              </a:defRPr>
            </a:pPr>
            <a:r>
              <a:t>• 1. 多模态融合：文本、图像、音频、视频的统一处理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92024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微软雅黑" panose="020B0503020204020204" charset="-122"/>
              </a:defRPr>
            </a:pPr>
            <a:r>
              <a:t>• 2. 端侧AI部署：Go二进制在边缘设备上的高效运行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46888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微软雅黑" panose="020B0503020204020204" charset="-122"/>
              </a:defRPr>
            </a:pPr>
            <a:r>
              <a:t>• 3. 自主Agent进化：从任务执行到目标规划的跨越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01752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微软雅黑" panose="020B0503020204020204" charset="-122"/>
              </a:defRPr>
            </a:pPr>
            <a:r>
              <a:t>• 4. 私有化部署主流化：数据安全驱动本地化模型普及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137160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微软雅黑" panose="020B0503020204020204" charset="-122"/>
              </a:defRPr>
            </a:pPr>
            <a:r>
              <a:t>• 5. 低代码/无代码平台：结合Go后端与可视化前端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192024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微软雅黑" panose="020B0503020204020204" charset="-122"/>
              </a:defRPr>
            </a:pPr>
            <a:r>
              <a:t>• 6. 实时交互优化：流式响应与增量生成的普及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246888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微软雅黑" panose="020B0503020204020204" charset="-122"/>
              </a:defRPr>
            </a:pPr>
            <a:r>
              <a:t>• 7. 跨语言协作：Go与Python混合架构的标准化接口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301752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微软雅黑" panose="020B0503020204020204" charset="-122"/>
              </a:defRPr>
            </a:pPr>
            <a:r>
              <a:t>• 8. 标准化协议：AI服务接口与数据交换格式的演进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6309360"/>
            <a:ext cx="11247120" cy="36576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AAAAA"/>
                </a:solidFill>
              </a:defRPr>
            </a:pPr>
            <a:r>
              <a:t>16 / 20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222222"/>
                </a:solidFill>
                <a:latin typeface="微软雅黑" panose="020B0503020204020204" charset="-122"/>
              </a:defRPr>
            </a:pPr>
            <a:r>
              <a:t>行动指南：如何开始你的AI之旅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1371600"/>
            <a:ext cx="9418320" cy="4389120"/>
          </a:xfrm>
          <a:prstGeom prst="roundRect">
            <a:avLst/>
          </a:prstGeom>
          <a:solidFill>
            <a:srgbClr val="F0F4F8"/>
          </a:solidFill>
          <a:ln w="19050">
            <a:solidFill>
              <a:srgbClr val="2F8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0" y="2743200"/>
            <a:ext cx="85039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5BA0F0"/>
                </a:solidFill>
                <a:latin typeface="微软雅黑" panose="020B0503020204020204" charset="-122"/>
              </a:defRPr>
            </a:pPr>
            <a:r>
              <a:t>[配图] person climbing mountain peak success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309360"/>
            <a:ext cx="11247120" cy="36576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AAAAA"/>
                </a:solidFill>
              </a:defRPr>
            </a:pPr>
            <a:r>
              <a:t>17 / 20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222222"/>
                </a:solidFill>
                <a:latin typeface="微软雅黑" panose="020B0503020204020204" charset="-122"/>
              </a:defRPr>
            </a:pPr>
            <a:r>
              <a:t>关键要点总结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05840"/>
            <a:ext cx="2286000" cy="4572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微软雅黑" panose="020B0503020204020204" charset="-122"/>
              </a:defRPr>
            </a:pPr>
            <a:r>
              <a:t>• 1. Go语言凭借高性能与并发优势，是AI应用后端开发的理想选择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92024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微软雅黑" panose="020B0503020204020204" charset="-122"/>
              </a:defRPr>
            </a:pPr>
            <a:r>
              <a:t>• 2. Eino框架简化了LLM集成，提供了强大的编排能力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46888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微软雅黑" panose="020B0503020204020204" charset="-122"/>
              </a:defRPr>
            </a:pPr>
            <a:r>
              <a:t>• 3. 结合Graph与Agent模式，可构建灵活、可扩展的智能系统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01752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微软雅黑" panose="020B0503020204020204" charset="-122"/>
              </a:defRPr>
            </a:pPr>
            <a:r>
              <a:t>• 4. 性能优化需关注并发控制、缓存策略与内存管理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137160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微软雅黑" panose="020B0503020204020204" charset="-122"/>
              </a:defRPr>
            </a:pPr>
            <a:r>
              <a:t>• 5. 数据安全与隐私保护是生产环境部署的前提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192024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微软雅黑" panose="020B0503020204020204" charset="-122"/>
              </a:defRPr>
            </a:pPr>
            <a:r>
              <a:t>• 6. 持续监控与评估是保证AI应用质量的关键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246888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微软雅黑" panose="020B0503020204020204" charset="-122"/>
              </a:defRPr>
            </a:pPr>
            <a:r>
              <a:t>• 7. 社区资源丰富，积极交流与贡献有助于快速成长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301752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微软雅黑" panose="020B0503020204020204" charset="-122"/>
              </a:defRPr>
            </a:pPr>
            <a:r>
              <a:t>• 8. 拥抱变化，探索多模态与端侧AI的新机会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6309360"/>
            <a:ext cx="11247120" cy="36576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AAAAA"/>
                </a:solidFill>
              </a:defRPr>
            </a:pPr>
            <a:r>
              <a:t>18 / 20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222222"/>
                </a:solidFill>
                <a:latin typeface="微软雅黑" panose="020B0503020204020204" charset="-122"/>
              </a:defRPr>
            </a:pPr>
            <a:r>
              <a:t>Q&amp;A 环节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1371600"/>
            <a:ext cx="9418320" cy="4389120"/>
          </a:xfrm>
          <a:prstGeom prst="roundRect">
            <a:avLst/>
          </a:prstGeom>
          <a:solidFill>
            <a:srgbClr val="F0F4F8"/>
          </a:solidFill>
          <a:ln w="19050">
            <a:solidFill>
              <a:srgbClr val="2F8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0" y="2743200"/>
            <a:ext cx="85039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5BA0F0"/>
                </a:solidFill>
                <a:latin typeface="微软雅黑" panose="020B0503020204020204" charset="-122"/>
              </a:defRPr>
            </a:pPr>
            <a:r>
              <a:t>[配图] question mark cloud symbol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309360"/>
            <a:ext cx="11247120" cy="36576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AAAAA"/>
                </a:solidFill>
              </a:defRPr>
            </a:pPr>
            <a:r>
              <a:t>19 / 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222222"/>
                </a:solidFill>
                <a:latin typeface="微软雅黑" panose="020B0503020204020204" charset="-122"/>
              </a:defRPr>
            </a:pPr>
            <a:r>
              <a:t>感谢观看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05840"/>
            <a:ext cx="2286000" cy="4572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微软雅黑" panose="020B0503020204020204" charset="-122"/>
              </a:defRPr>
            </a:pPr>
            <a:r>
              <a:t>• 1. 感谢各位的时间与关注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92024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微软雅黑" panose="020B0503020204020204" charset="-122"/>
              </a:defRPr>
            </a:pPr>
            <a:r>
              <a:t>• 2. Go + Eino 正在改变AI应用开发的格局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46888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微软雅黑" panose="020B0503020204020204" charset="-122"/>
              </a:defRPr>
            </a:pPr>
            <a:r>
              <a:t>• 3. 让我们一起构建更快、更稳、更智能的系统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01752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微软雅黑" panose="020B0503020204020204" charset="-122"/>
              </a:defRPr>
            </a:pPr>
            <a:r>
              <a:t>• 4. 资料链接：github.com/eino-ai/go-examples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137160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微软雅黑" panose="020B0503020204020204" charset="-122"/>
              </a:defRPr>
            </a:pPr>
            <a:r>
              <a:t>• 5. 文档链接：docs.eino.ai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192024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微软雅黑" panose="020B0503020204020204" charset="-122"/>
              </a:defRPr>
            </a:pPr>
            <a:r>
              <a:t>• 6. 社区链接：discord.gg/eino-ai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246888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微软雅黑" panose="020B0503020204020204" charset="-122"/>
              </a:defRPr>
            </a:pPr>
            <a:r>
              <a:t>• 7. 联系方式：contact@sapiens-ai.com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301752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微软雅黑" panose="020B0503020204020204" charset="-122"/>
              </a:defRPr>
            </a:pPr>
            <a:r>
              <a:t>• 8. 再次感谢！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6309360"/>
            <a:ext cx="11247120" cy="36576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AAAAA"/>
                </a:solidFill>
              </a:defRPr>
            </a:pPr>
            <a:r>
              <a:t>20 / 20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2698</Words>
  <Application>WPS 演示</Application>
  <PresentationFormat>On-screen Show (4:3)</PresentationFormat>
  <Paragraphs>238</Paragraphs>
  <Slides>21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21</vt:i4>
      </vt:variant>
    </vt:vector>
  </HeadingPairs>
  <TitlesOfParts>
    <vt:vector size="29" baseType="lpstr">
      <vt:lpstr>Arial</vt:lpstr>
      <vt:lpstr>宋体</vt:lpstr>
      <vt:lpstr>Wingdings</vt:lpstr>
      <vt:lpstr>Arial</vt:lpstr>
      <vt:lpstr>微软雅黑</vt:lpstr>
      <vt:lpstr>Calibri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wow</cp:lastModifiedBy>
  <cp:revision>2</cp:revision>
  <dcterms:created xsi:type="dcterms:W3CDTF">2013-01-27T09:14:00Z</dcterms:created>
  <dcterms:modified xsi:type="dcterms:W3CDTF">2026-06-11T16:05:02Z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2052-12.1.0.26895</vt:lpwstr>
  </property>
  <property fmtid="{D5CDD505-2E9C-101B-9397-08002B2CF9AE}" pid="3" name="ICV">
    <vt:lpwstr>928CC76F6CE948B48DB146974EB60490_12</vt:lpwstr>
  </property>
</Properties>
</file>