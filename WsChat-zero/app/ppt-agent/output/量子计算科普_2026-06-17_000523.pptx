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量子计算：开启未来的钥匙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C2D12"/>
                </a:solidFill>
                <a:latin typeface="Microsoft YaHei"/>
              </a:defRPr>
            </a:pPr>
            <a:r>
              <a:t>欢迎来到量子世界的奇妙之旅。今天，我们将揭开量子计算的神秘面纱，探索它如何重塑我们对信息处理的认知。从经典比特的0和1到量子比特的叠加态，这不仅是技术的飞跃，更是思维方式的革命。我们将深入探讨量子并行性、纠缠效应以及它们在密码学、药物研发和优化问题中的巨大潜力。请准备好您的想象力，因为接下来的内容将带您进入一个超越传统逻辑的维度。让我们一起见证算力爆发的临界点，理解为何全球科技巨头都在竞相布局这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目录与议程概览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本次分享将分为八个核心部分，旨在为您提供全面且深入的视角。首先，我们将回顾计算的历史演变，从算盘到晶体管，引出经典计算的瓶颈。其次，深入解析量子力学的基本原理，特别是叠加态和纠缠态，这是量子计算的基石。第三部分将对比经典比特与量子比特，直观展示其差异。随后，我们将介绍主流的量子硬件架构，如超导电路和离子阱。第五部分聚焦于量子算法，如Shor算法和Grover算法的威力。第六部分探讨当前面临的挑战，包括退相干和错误校正。第七部分展望量子计算在各行业的实际应用前景。最后，总结关键要点并开放问答环节。希望通过这次结构化的旅程，您能建立起对量子计算的系统性认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计算演进的百年历程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08C4A"/>
                </a:solidFill>
                <a:latin typeface="Microsoft YaHei"/>
              </a:defRPr>
            </a:pPr>
            <a:r>
              <a:t>[配图] timeline illustration showing evolution from abacus to modern supercomputer servers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经典比特 vs 量子比特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理解量子计算的关键在于区分经典比特（Bit）与量子比特（Qubit）。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1. 经典比特：像开关，要么开（1），要么关（0）。状态确定且互斥。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2. 量子比特：利用微观粒子的量子态，可以同时处于0和1的叠加态。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3. 概率幅：量子比特的状态由复数概率幅描述，测量时才会坍缩为确定的0或1。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4. 空间复杂度：N个经典比特只能表示N位信息；N个量子比特可以表示2^N维空间的叠加态。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5. 操控方式：经典比特通过电压高低控制；量子比特通过激光脉冲、微波或磁场操控。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6. 稳定性：经典比特极其稳定，不易受干扰；量子比特非常脆弱，容易因环境噪声而失去量子特性（退相干）。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7. 并行潜力：经典计算机串行处理任务；量子计算机利用叠加态实现真正的并行计算。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8. 直观比喻：经典比特是硬币正面或反面朝上；量子比特是旋转中尚未落地的硬币。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核心原理一：叠加态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08C4A"/>
                </a:solidFill>
                <a:latin typeface="Microsoft YaHei"/>
              </a:defRPr>
            </a:pPr>
            <a:r>
              <a:t>[配图] abstract visualization of quantum superposition with wave functions interfering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核心原理二：量子纠缠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纠缠（Entanglement）被称为量子力学的“鬼魅般的超距作用”，是量子计算的另一大支柱。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1. 定义：两个或多个量子粒子形成关联状态，无论相距多远，改变其中一个会瞬间影响另一个。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2. 不可分割性：纠缠态的系统不能分解为独立子系统的乘积状态。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3. 信息传输：虽然状态关联瞬时发生，但不能用于超光速传递经典信息，遵守因果律。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4. 计算资源：纠缠提供了额外的关联维度，使得量子计算机能协调多个量子比特的操作。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5. 贝尔不等式：实验验证了纠缠的真实性，排除了局部隐变量理论的可能性。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6. 量子隐形传态：利用纠缠可以实现量子状态的远程传输，是量子网络的基础。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7. 纠错关键：在量子纠错码中，纠缠用于将逻辑量子比特的信息分散存储，以抵抗噪声。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8. 复杂度提升：随着纠缠程度的增加，经典计算机模拟量子系统的难度急剧上升，直至无法模拟。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主流量子硬件架构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08C4A"/>
                </a:solidFill>
                <a:latin typeface="Microsoft YaHei"/>
              </a:defRPr>
            </a:pPr>
            <a:r>
              <a:t>[配图] collage of different quantum hardware setups including dilution refrigerator and ion trap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量子算法初探：Shor算法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Shor算法是量子计算最著名的算法之一，它展示了量子计算机在质因数分解上的巨大优势。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1. 背景：RSA加密算法的安全性依赖于大整数分解的经典困难性。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2. 经典复杂度：分解一个大数需要亚指数时间，随着位数增加，计算量剧增。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3. 量子突破：Shor算法利用量子傅里叶变换，能在多项式时间内完成分解。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4. 核心思想：将分解问题转化为寻找函数周期的问题，利用量子并行性同时计算所有点的值。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5. 威胁等级：如果拥有足够大规模容错量子计算机，现有公钥加密体系将面临崩溃风险。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6. 应对策略：推动了后量子密码学（PQC）的发展，研发抗量子攻击的新加密标准。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7. 实际意义：不仅关乎网络安全，更展示了量子算法解决数论问题的强大能力。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8. 现状：目前已在小规模量子计算机上演示，但距离破解实用级RSA密钥仍有距离。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量子算法初探：Grover算法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08C4A"/>
                </a:solidFill>
                <a:latin typeface="Microsoft YaHei"/>
              </a:defRPr>
            </a:pPr>
            <a:r>
              <a:t>[配图] visualization of Grover's algorithm amplifying the probability amplitude of the correct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量子模拟：自然界的语言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费曼曾言：“自然界不是经典的，如果你想模拟自然，你最好让它成为量子的。”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1. 化学模拟：精确计算分子结构和反应路径，传统计算机难以处理多体量子系统。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2. 药物研发：模拟蛋白质折叠和药物分子与靶点的相互作用，加速新药发现过程。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3. 材料科学：设计新型超导材料、高效电池电极材料或催化剂，优化电子结构。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4. 量子场论：模拟高能物理中的粒子相互作用，验证标准模型或探索新物理。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5. 复杂性来源：经典计算机模拟N个量子比特需要2^N复数内存，迅速达到极限。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6. 直接映射：量子计算机本身就是一个量子系统，可以直接模拟其他量子系统，效率极高。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7. 实际进展：已在小型分子（如氢化锂、咖啡因）的电子结构计算上取得初步成功。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8. 未来愿景：有望彻底改变我们对物质基本性质的理解，推动基础科学突破。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优化问题：物流与金融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08C4A"/>
                </a:solidFill>
                <a:latin typeface="Microsoft YaHei"/>
              </a:defRPr>
            </a:pPr>
            <a:r>
              <a:t>[配图] complex logistics network map with glowing optimization paths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当前挑战：噪音与退相干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尽管前景广阔，但量子计算仍面临严峻的物理和技术挑战。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1. 退相干：量子态极易与环境相互作用而丢失信息，导致计算错误。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2. 噪声来源：热波动、电磁辐射、材料缺陷等都会引入噪声。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3. 门操作误差：量子逻辑门的执行精度有限，累积误差会影响最终结果。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4. 读出错误：测量量子态时可能出现误判，进一步降低可靠性。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5. 冷却需求：大多数量子计算机需要接近绝对零度的极端环境，能耗巨大。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6. 扩展难题：增加量子比特数量的同时，布线和控制信号的干扰也随之增加。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7. 软件栈缺失：缺乏成熟的编译器、调试工具和编程语言生态。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8. 人才缺口：兼具量子物理和计算机科学知识的复合型人才极度稀缺。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纠错之路：从物理到逻辑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08C4A"/>
                </a:solidFill>
                <a:latin typeface="Microsoft YaHei"/>
              </a:defRPr>
            </a:pPr>
            <a:r>
              <a:t>[配图] diagram of surface code quantum error correction lattice 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生态系统：主要玩家与格局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全球量子计算领域呈现出百花齐放的竞争与合作态势。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1. 科技巨头：IBM拥有最长的路线图和最丰富的云平台；Google在量子优越性上率先突破；Microsoft专注于拓扑量子。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2. 初创企业：Rigetti、IonQ、PsiQuantum等在特定技术路线上深耕，灵活创新。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3. 学术机构：麻省理工学院、斯坦福大学、中科大等在基础研究和算法开发上贡献卓著。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4. 国家力量：中国、美国、欧盟、日本等均将量子计算列为国家战略，投入巨资。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5. 开源社区：Qiskit、Cirq、PennyLane等开源框架降低了开发门槛，促进了生态繁荣。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6. 云服务：多家公司提供基于云的量子计算机接入，让开发者无需硬件即可实验。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7. 合作模式：产学研紧密结合，共同制定标准，共享部分研究成果。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8. 投资热潮：风险投资持续涌入，估值飙升，但也伴随着泡沫风险和技术落地的不确定性。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量子霸权与量子优势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0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08C4A"/>
                </a:solidFill>
                <a:latin typeface="Microsoft YaHei"/>
              </a:defRPr>
            </a:pPr>
            <a:r>
              <a:t>[line图表]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未来展望：2030及以后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展望未来十年，量子计算将经历从实验室走向产业的关键转变。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1. 硬件成熟：预计2030年前后，将出现拥有数千个高质量逻辑量子比特的容错量子计算机。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2. 专用领域突破：在药物发现、材料设计和金融建模方面，量子算法将提供不可替代的价值。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3. 量子互联网：基于量子纠缠的通信网络将建立，实现绝对安全的全球通信。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4. 人机协作：AI与量子计算的结合（Quantum Machine Learning）将催生更强大的智能系统。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5. 标准化进程：国际组织将出台量子硬件接口、软件协议和安全标准。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6. 教育普及：量子编程将成为计算机科学教育的重要组成部分，培养新一代开发者。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7. 伦理考量：随着算力增强，需关注隐私保护、算法偏见和社会公平性问题。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8. 范式转移：量子计算将从“新奇玩具”变为“基础设施”，融入各行各业。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给开发者的入门建议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08C4A"/>
                </a:solidFill>
                <a:latin typeface="Microsoft YaHei"/>
              </a:defRPr>
            </a:pPr>
            <a:r>
              <a:t>[配图] developer coding on laptop with quantum circuit visualization overlay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关键要点总结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回顾本次分享，我们提炼出以下核心观点。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1. 范式革命：量子计算利用叠加和纠缠，提供了超越经典计算的可能性。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2. 指数优势：在某些特定问题上，如大数分解和数据库搜索，量子算法具有指数或二次加速。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3. 硬件多样：超导、离子阱、光量子等多种技术路线并存，各有适用场景。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4. 挑战严峻：噪音、退相干和纠错是当前制约大规模应用的主要瓶颈。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5. 生态兴起：全球科技巨头、初创企业和学术界共同推动量子生态系统的繁荣。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6. 应用广泛：从药物研发到金融优化，量子计算有望解决传统计算机无法处理的难题。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7. 长远视角：量子计算机不会取代经典计算机，而是作为专用加速器共存。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0175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2D12"/>
                </a:solidFill>
                <a:latin typeface="Microsoft YaHei"/>
              </a:defRPr>
            </a:pPr>
            <a:r>
              <a:t>• 8. 立即行动：对于从业者而言，现在是学习量子编程和理解量子算法的最佳时机。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A3412"/>
                </a:solidFill>
                <a:latin typeface="Microsoft YaHei"/>
              </a:defRPr>
            </a:pPr>
            <a:r>
              <a:t>问答与交流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08C4A"/>
                </a:solidFill>
                <a:latin typeface="Microsoft YaHei"/>
              </a:defRPr>
            </a:pPr>
            <a:r>
              <a:t>[配图] speaker presenting at podium with audience raising hands for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